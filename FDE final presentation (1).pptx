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6" r:id="rId2"/>
    <p:sldId id="260" r:id="rId3"/>
    <p:sldId id="321" r:id="rId4"/>
    <p:sldId id="278" r:id="rId5"/>
    <p:sldId id="326" r:id="rId6"/>
    <p:sldId id="331" r:id="rId7"/>
    <p:sldId id="332" r:id="rId8"/>
    <p:sldId id="322" r:id="rId9"/>
    <p:sldId id="323" r:id="rId10"/>
    <p:sldId id="324" r:id="rId11"/>
    <p:sldId id="277" r:id="rId12"/>
    <p:sldId id="330" r:id="rId13"/>
    <p:sldId id="333" r:id="rId14"/>
    <p:sldId id="329" r:id="rId15"/>
    <p:sldId id="327" r:id="rId1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3" userDrawn="1">
          <p15:clr>
            <a:srgbClr val="A4A3A4"/>
          </p15:clr>
        </p15:guide>
        <p15:guide id="2" pos="29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59" d="100"/>
          <a:sy n="59" d="100"/>
        </p:scale>
        <p:origin x="1500" y="76"/>
      </p:cViewPr>
      <p:guideLst>
        <p:guide orient="horz" pos="2193"/>
        <p:guide pos="2913"/>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t>9/12/2026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9/12/2026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klh.edu.in/"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link.springer.com/journal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anose="02020603050405020304" pitchFamily="18" charset="0"/>
                <a:cs typeface="Times New Roman" panose="02020603050405020304" pitchFamily="18" charset="0"/>
              </a:rPr>
            </a:br>
            <a:br>
              <a:rPr lang="en-US" sz="1800" b="0" dirty="0">
                <a:solidFill>
                  <a:schemeClr val="tx1"/>
                </a:solidFill>
                <a:latin typeface="Times New Roman" panose="02020603050405020304" pitchFamily="18" charset="0"/>
                <a:cs typeface="Times New Roman" panose="02020603050405020304" pitchFamily="18" charset="0"/>
              </a:rPr>
            </a:br>
            <a:r>
              <a:rPr lang="en-US" sz="2200" b="0" dirty="0">
                <a:solidFill>
                  <a:schemeClr val="tx1"/>
                </a:solidFill>
                <a:latin typeface="Times New Roman" panose="02020603050405020304" pitchFamily="18" charset="0"/>
                <a:cs typeface="Times New Roman" panose="02020603050405020304" pitchFamily="18" charset="0"/>
              </a:rPr>
              <a:t>A</a:t>
            </a:r>
            <a:br>
              <a:rPr lang="en-US" sz="1800" b="0" dirty="0">
                <a:solidFill>
                  <a:schemeClr val="tx1"/>
                </a:solidFill>
                <a:latin typeface="Times New Roman" panose="02020603050405020304" pitchFamily="18" charset="0"/>
                <a:cs typeface="Times New Roman" panose="02020603050405020304" pitchFamily="18" charset="0"/>
              </a:rPr>
            </a:br>
            <a:r>
              <a:rPr lang="en-US" sz="3600" b="1" dirty="0">
                <a:solidFill>
                  <a:srgbClr val="FF0000"/>
                </a:solidFill>
                <a:latin typeface="Times New Roman" panose="02020603050405020304" pitchFamily="18" charset="0"/>
                <a:cs typeface="Times New Roman" panose="02020603050405020304" pitchFamily="18" charset="0"/>
              </a:rPr>
              <a:t>Project Review   </a:t>
            </a:r>
            <a:r>
              <a:rPr lang="en-US" sz="2200" b="0" dirty="0">
                <a:solidFill>
                  <a:schemeClr val="tx1"/>
                </a:solidFill>
                <a:latin typeface="Times New Roman" panose="02020603050405020304" pitchFamily="18" charset="0"/>
                <a:cs typeface="Times New Roman" panose="02020603050405020304" pitchFamily="18" charset="0"/>
              </a:rPr>
              <a:t> </a:t>
            </a:r>
            <a:br>
              <a:rPr lang="en-US" sz="2200" dirty="0">
                <a:latin typeface="Times New Roman" panose="02020603050405020304" pitchFamily="18" charset="0"/>
                <a:cs typeface="Times New Roman" panose="02020603050405020304" pitchFamily="18" charset="0"/>
              </a:rPr>
            </a:br>
            <a:r>
              <a:rPr lang="en-US" sz="2200" b="1" i="1" dirty="0">
                <a:latin typeface="Times New Roman" panose="02020603050405020304" pitchFamily="18" charset="0"/>
                <a:cs typeface="Times New Roman" panose="02020603050405020304" pitchFamily="18" charset="0"/>
              </a:rPr>
              <a:t>Project title:</a:t>
            </a:r>
            <a:r>
              <a:rPr lang="en-IN" altLang="en-US" sz="2200" b="1" i="1" dirty="0">
                <a:latin typeface="Times New Roman" panose="02020603050405020304" pitchFamily="18" charset="0"/>
                <a:cs typeface="Times New Roman" panose="02020603050405020304" pitchFamily="18" charset="0"/>
              </a:rPr>
              <a:t> </a:t>
            </a:r>
            <a:r>
              <a:rPr lang="en-US" altLang="en-US" sz="2200" b="1" i="1" dirty="0">
                <a:latin typeface="Times New Roman" panose="02020603050405020304" pitchFamily="18" charset="0"/>
                <a:cs typeface="Times New Roman" panose="02020603050405020304" pitchFamily="18" charset="0"/>
              </a:rPr>
              <a:t>Intelligent Energy Consumption Analytics for Smart Buildings</a:t>
            </a:r>
          </a:p>
        </p:txBody>
      </p:sp>
      <p:sp>
        <p:nvSpPr>
          <p:cNvPr id="3" name="Subtitle 2"/>
          <p:cNvSpPr>
            <a:spLocks noGrp="1"/>
          </p:cNvSpPr>
          <p:nvPr>
            <p:ph type="subTitle" idx="1"/>
          </p:nvPr>
        </p:nvSpPr>
        <p:spPr>
          <a:xfrm>
            <a:off x="381000" y="1295157"/>
            <a:ext cx="8458200" cy="2895600"/>
          </a:xfrm>
        </p:spPr>
        <p:txBody>
          <a:bodyPr>
            <a:normAutofit fontScale="25000" lnSpcReduction="20000"/>
          </a:bodyPr>
          <a:lstStyle/>
          <a:p>
            <a:pPr marR="0" algn="ctr" eaLnBrk="1" hangingPunct="1">
              <a:lnSpc>
                <a:spcPct val="80000"/>
              </a:lnSpc>
              <a:defRPr/>
            </a:pPr>
            <a:endParaRPr lang="en-US" sz="20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sz="2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Submitted by</a:t>
            </a:r>
          </a:p>
          <a:p>
            <a:pPr marR="0" algn="ctr" eaLnBrk="1" hangingPunct="1">
              <a:lnSpc>
                <a:spcPct val="80000"/>
              </a:lnSpc>
              <a:defRPr/>
            </a:pPr>
            <a:r>
              <a:rPr lang="en-US" sz="3800" dirty="0">
                <a:solidFill>
                  <a:srgbClr val="0D0D0D"/>
                </a:solidFill>
                <a:latin typeface="Times New Roman" panose="02020603050405020304" pitchFamily="18" charset="0"/>
                <a:cs typeface="Times New Roman" panose="02020603050405020304" pitchFamily="18" charset="0"/>
              </a:rPr>
              <a:t>Batch No:</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17</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2420030235 – Ch . Shravanya</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2420030116 - M . Swetha </a:t>
            </a:r>
          </a:p>
          <a:p>
            <a:pPr>
              <a:lnSpc>
                <a:spcPct val="80000"/>
              </a:lnSpc>
              <a:defRPr/>
            </a:pPr>
            <a:r>
              <a:rPr lang="en-IN" altLang="en-US" sz="5600" b="1" dirty="0">
                <a:solidFill>
                  <a:srgbClr val="FF0000"/>
                </a:solidFill>
                <a:latin typeface="Times New Roman" panose="02020603050405020304" pitchFamily="18" charset="0"/>
                <a:cs typeface="Times New Roman" panose="02020603050405020304" pitchFamily="18" charset="0"/>
              </a:rPr>
              <a:t>2420090031- K . Charanya</a:t>
            </a:r>
          </a:p>
          <a:p>
            <a:pPr>
              <a:lnSpc>
                <a:spcPct val="80000"/>
              </a:lnSpc>
              <a:defRPr/>
            </a:pPr>
            <a:endParaRPr lang="en-US" sz="5600"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endParaRPr lang="en-US" b="1" dirty="0">
              <a:solidFill>
                <a:srgbClr val="FF000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GB" sz="5600" b="1" i="1" dirty="0">
                <a:solidFill>
                  <a:srgbClr val="FF0000"/>
                </a:solidFill>
                <a:effectLst/>
                <a:latin typeface="Times New Roman" panose="02020603050405020304" pitchFamily="18" charset="0"/>
                <a:ea typeface="Times New Roman" panose="02020603050405020304" pitchFamily="18" charset="0"/>
              </a:rPr>
              <a:t>Under the Esteemed guidance of </a:t>
            </a:r>
          </a:p>
          <a:p>
            <a:pPr marR="0" algn="ctr" eaLnBrk="1" hangingPunct="1">
              <a:lnSpc>
                <a:spcPct val="80000"/>
              </a:lnSpc>
              <a:defRPr/>
            </a:pPr>
            <a:endParaRPr lang="en-US" sz="5600" dirty="0">
              <a:solidFill>
                <a:srgbClr val="0D0D0D"/>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dirty="0">
                <a:solidFill>
                  <a:srgbClr val="0D0D0D"/>
                </a:solidFill>
                <a:latin typeface="Times New Roman" panose="02020603050405020304" pitchFamily="18" charset="0"/>
                <a:cs typeface="Times New Roman" panose="02020603050405020304" pitchFamily="18" charset="0"/>
              </a:rPr>
              <a:t>Mrs. Dr. Sirisha</a:t>
            </a:r>
          </a:p>
          <a:p>
            <a:pPr marR="0" algn="ctr" eaLnBrk="1" hangingPunct="1">
              <a:lnSpc>
                <a:spcPct val="80000"/>
              </a:lnSpc>
              <a:defRPr/>
            </a:pPr>
            <a:endParaRPr lang="en-US" sz="5600" b="1" dirty="0">
              <a:solidFill>
                <a:srgbClr val="00B0F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5600" b="1" dirty="0">
                <a:solidFill>
                  <a:srgbClr val="00B0F0"/>
                </a:solidFill>
                <a:latin typeface="Times New Roman" panose="02020603050405020304" pitchFamily="18" charset="0"/>
                <a:cs typeface="Times New Roman" panose="02020603050405020304" pitchFamily="18" charset="0"/>
              </a:rPr>
              <a:t>Assistant Professor </a:t>
            </a:r>
          </a:p>
          <a:p>
            <a:pPr marR="0" algn="ctr" eaLnBrk="1" hangingPunct="1">
              <a:lnSpc>
                <a:spcPct val="80000"/>
              </a:lnSpc>
              <a:defRPr/>
            </a:pPr>
            <a:endParaRPr lang="en-US" sz="2800" b="1" dirty="0">
              <a:solidFill>
                <a:srgbClr val="0070C0"/>
              </a:solidFill>
              <a:latin typeface="Times New Roman" panose="02020603050405020304" pitchFamily="18" charset="0"/>
              <a:cs typeface="Times New Roman" panose="02020603050405020304" pitchFamily="18" charset="0"/>
            </a:endParaRPr>
          </a:p>
          <a:p>
            <a:pPr marR="0" algn="ctr" eaLnBrk="1" hangingPunct="1">
              <a:lnSpc>
                <a:spcPct val="80000"/>
              </a:lnSpc>
              <a:defRPr/>
            </a:pPr>
            <a:r>
              <a:rPr lang="en-US" sz="4800" b="1" dirty="0">
                <a:solidFill>
                  <a:srgbClr val="0070C0"/>
                </a:solidFill>
                <a:latin typeface="Times New Roman" panose="02020603050405020304" pitchFamily="18" charset="0"/>
                <a:cs typeface="Times New Roman" panose="02020603050405020304" pitchFamily="18" charset="0"/>
              </a:rPr>
              <a:t>Department of Computer Science and Engineering</a:t>
            </a:r>
          </a:p>
          <a:p>
            <a:pPr marR="0" eaLnBrk="1" hangingPunct="1">
              <a:lnSpc>
                <a:spcPct val="80000"/>
              </a:lnSpc>
              <a:defRPr/>
            </a:pPr>
            <a:r>
              <a:rPr lang="en-US" sz="2800" b="1" dirty="0">
                <a:solidFill>
                  <a:srgbClr val="0D0D0D"/>
                </a:solidFill>
                <a:latin typeface="Times New Roman" panose="02020603050405020304" pitchFamily="18" charset="0"/>
                <a:cs typeface="Times New Roman" panose="02020603050405020304" pitchFamily="18" charset="0"/>
              </a:rPr>
              <a:t>                                                </a:t>
            </a:r>
            <a:r>
              <a:rPr lang="en-US" sz="2800" dirty="0">
                <a:solidFill>
                  <a:srgbClr val="0D0D0D"/>
                </a:solidFill>
                <a:latin typeface="Times New Roman" panose="02020603050405020304" pitchFamily="18" charset="0"/>
                <a:cs typeface="Times New Roman" panose="02020603050405020304" pitchFamily="18" charset="0"/>
              </a:rPr>
              <a:t>                                       </a:t>
            </a:r>
            <a:r>
              <a:rPr lang="en-US" sz="2400" dirty="0">
                <a:solidFill>
                  <a:srgbClr val="0D0D0D"/>
                </a:solidFill>
                <a:latin typeface="Times New Roman" panose="02020603050405020304" pitchFamily="18" charset="0"/>
                <a:cs typeface="Times New Roman" panose="02020603050405020304" pitchFamily="18" charset="0"/>
              </a:rPr>
              <a:t>                                   </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33190" y="4343400"/>
            <a:ext cx="1125855" cy="1130300"/>
          </a:xfrm>
          <a:prstGeom prst="rect">
            <a:avLst/>
          </a:prstGeom>
          <a:noFill/>
          <a:ln>
            <a:noFill/>
          </a:ln>
        </p:spPr>
      </p:pic>
      <p:sp>
        <p:nvSpPr>
          <p:cNvPr id="13" name="TextBox 12"/>
          <p:cNvSpPr txBox="1"/>
          <p:nvPr/>
        </p:nvSpPr>
        <p:spPr>
          <a:xfrm>
            <a:off x="76105" y="53340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dirty="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dirty="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dirty="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dirty="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dirty="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3"/>
              </a:rPr>
              <a:t>www.klh.edu.in</a:t>
            </a:r>
            <a:endParaRPr lang="en-US" sz="16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716"/>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Outline of the presentation</a:t>
            </a:r>
          </a:p>
        </p:txBody>
      </p:sp>
      <p:sp>
        <p:nvSpPr>
          <p:cNvPr id="3" name="Content Placeholder 2"/>
          <p:cNvSpPr>
            <a:spLocks noGrp="1"/>
          </p:cNvSpPr>
          <p:nvPr>
            <p:ph idx="1"/>
          </p:nvPr>
        </p:nvSpPr>
        <p:spPr>
          <a:xfrm>
            <a:off x="304800" y="1524001"/>
            <a:ext cx="8839200" cy="5105399"/>
          </a:xfrm>
        </p:spPr>
        <p:txBody>
          <a:bodyPr>
            <a:normAutofit lnSpcReduction="10000"/>
          </a:bodyPr>
          <a:lstStyle/>
          <a:p>
            <a:r>
              <a:rPr lang="en-US" dirty="0">
                <a:latin typeface="+mj-lt"/>
                <a:cs typeface="+mj-lt"/>
              </a:rPr>
              <a:t>Problem Statement</a:t>
            </a:r>
          </a:p>
          <a:p>
            <a:r>
              <a:rPr lang="en-US" dirty="0">
                <a:latin typeface="+mj-lt"/>
                <a:cs typeface="+mj-lt"/>
              </a:rPr>
              <a:t>Abstract</a:t>
            </a:r>
          </a:p>
          <a:p>
            <a:r>
              <a:rPr lang="en-US" dirty="0">
                <a:latin typeface="+mj-lt"/>
                <a:cs typeface="+mj-lt"/>
              </a:rPr>
              <a:t>Project flow diagram</a:t>
            </a:r>
          </a:p>
          <a:p>
            <a:r>
              <a:rPr lang="en-US" dirty="0">
                <a:latin typeface="+mj-lt"/>
                <a:cs typeface="+mj-lt"/>
              </a:rPr>
              <a:t>Literature Survey</a:t>
            </a:r>
          </a:p>
          <a:p>
            <a:r>
              <a:rPr lang="en-US" dirty="0">
                <a:latin typeface="+mj-lt"/>
                <a:cs typeface="+mj-lt"/>
              </a:rPr>
              <a:t>Objectives with justification</a:t>
            </a:r>
          </a:p>
          <a:p>
            <a:r>
              <a:rPr lang="en-US" dirty="0">
                <a:latin typeface="+mj-lt"/>
                <a:cs typeface="+mj-lt"/>
              </a:rPr>
              <a:t>Research gaps</a:t>
            </a:r>
          </a:p>
          <a:p>
            <a:r>
              <a:rPr lang="en-US" dirty="0">
                <a:latin typeface="+mj-lt"/>
                <a:cs typeface="+mj-lt"/>
              </a:rPr>
              <a:t>Novelty/Innovation/</a:t>
            </a:r>
            <a:r>
              <a:rPr lang="en-US" dirty="0" err="1">
                <a:latin typeface="+mj-lt"/>
                <a:cs typeface="+mj-lt"/>
              </a:rPr>
              <a:t>Feseability</a:t>
            </a:r>
            <a:endParaRPr lang="en-US" dirty="0">
              <a:latin typeface="+mj-lt"/>
              <a:cs typeface="+mj-lt"/>
            </a:endParaRPr>
          </a:p>
          <a:p>
            <a:r>
              <a:rPr lang="en-US" dirty="0">
                <a:latin typeface="+mj-lt"/>
                <a:cs typeface="+mj-lt"/>
              </a:rPr>
              <a:t>Tools</a:t>
            </a:r>
          </a:p>
          <a:p>
            <a:r>
              <a:rPr lang="en-US" dirty="0">
                <a:latin typeface="+mj-lt"/>
                <a:cs typeface="+mj-lt"/>
              </a:rPr>
              <a:t>Project plan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p>
        </p:txBody>
      </p:sp>
      <p:pic>
        <p:nvPicPr>
          <p:cNvPr id="4" name="Picture 3"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248202" cy="125304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283"/>
            <a:ext cx="8229600" cy="1143000"/>
          </a:xfrm>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Problem Statement</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914401"/>
            <a:ext cx="8229600" cy="4525963"/>
          </a:xfrm>
        </p:spPr>
        <p:txBody>
          <a:bodyPr>
            <a:noAutofit/>
          </a:bodyPr>
          <a:lstStyle/>
          <a:p>
            <a:pPr>
              <a:buFont typeface="Wingdings" panose="05000000000000000000" charset="0"/>
              <a:buChar char="Ø"/>
            </a:pPr>
            <a:r>
              <a:rPr lang="en-US" altLang="en-US" sz="2000" dirty="0"/>
              <a:t>Smart buildings generate large amounts of energy-related data from appliances, sensors, environmental conditions, and building systems.</a:t>
            </a:r>
          </a:p>
          <a:p>
            <a:pPr>
              <a:buFont typeface="Wingdings" panose="05000000000000000000" charset="0"/>
              <a:buChar char="Ø"/>
            </a:pPr>
            <a:r>
              <a:rPr lang="en-US" altLang="en-US" sz="2000" dirty="0"/>
              <a:t>Traditional energy monitoring mainly focuses on historical consumption and does not provide sufficient intelligence about future consumption patterns.</a:t>
            </a:r>
          </a:p>
          <a:p>
            <a:pPr>
              <a:buFont typeface="Wingdings" panose="05000000000000000000" charset="0"/>
              <a:buChar char="Ø"/>
            </a:pPr>
            <a:r>
              <a:rPr lang="en-US" altLang="en-US" sz="2000" dirty="0"/>
              <a:t>Analyze historical energy consumption</a:t>
            </a:r>
          </a:p>
          <a:p>
            <a:pPr>
              <a:buFont typeface="Wingdings" panose="05000000000000000000" charset="0"/>
              <a:buChar char="Ø"/>
            </a:pPr>
            <a:r>
              <a:rPr lang="en-US" altLang="en-US" sz="2000" dirty="0"/>
              <a:t>Identify important consumption patterns</a:t>
            </a:r>
          </a:p>
          <a:p>
            <a:pPr>
              <a:buFont typeface="Wingdings" panose="05000000000000000000" charset="0"/>
              <a:buChar char="Ø"/>
            </a:pPr>
            <a:r>
              <a:rPr lang="en-US" altLang="en-US" sz="2000" dirty="0"/>
              <a:t>Predict future energy consumption</a:t>
            </a:r>
          </a:p>
          <a:p>
            <a:pPr>
              <a:buFont typeface="Wingdings" panose="05000000000000000000" charset="0"/>
              <a:buChar char="Ø"/>
            </a:pPr>
            <a:r>
              <a:rPr lang="en-US" altLang="en-US" sz="2000" dirty="0"/>
              <a:t>Identify factors influencing energy usage</a:t>
            </a:r>
          </a:p>
          <a:p>
            <a:pPr>
              <a:buFont typeface="Wingdings" panose="05000000000000000000" charset="0"/>
              <a:buChar char="Ø"/>
            </a:pPr>
            <a:r>
              <a:rPr lang="en-US" altLang="en-US" sz="2000" dirty="0"/>
              <a:t>Compare different ML models</a:t>
            </a:r>
          </a:p>
          <a:p>
            <a:pPr>
              <a:buFont typeface="Wingdings" panose="05000000000000000000" charset="0"/>
              <a:buChar char="Ø"/>
            </a:pPr>
            <a:r>
              <a:rPr lang="en-US" altLang="en-US" sz="2000" dirty="0"/>
              <a:t>Provide visual and actionable energy insights</a:t>
            </a:r>
          </a:p>
          <a:p>
            <a:endParaRPr lang="en-US" altLang="en-US" sz="2000" dirty="0"/>
          </a:p>
          <a:p>
            <a:pPr marL="0" indent="0">
              <a:buNone/>
            </a:pPr>
            <a:r>
              <a:rPr lang="en-US" altLang="en-US" sz="2000" dirty="0"/>
              <a:t>The main problem is that buildings generate a huge amount of energy data, but raw data alone does not tell us what will happen in the future. Traditional monitoring systems mainly show past consumption. Our project uses machine learning and analytics to understand the patterns in this data and predict future energy consumption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93775" cy="99758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917"/>
            <a:ext cx="8229600" cy="1143000"/>
          </a:xfrm>
        </p:spPr>
        <p:txBody>
          <a:bodyPr/>
          <a:lstStyle/>
          <a:p>
            <a:r>
              <a:rPr lang="en-US" b="1" dirty="0">
                <a:solidFill>
                  <a:srgbClr val="0070C0"/>
                </a:solidFill>
                <a:latin typeface="Times New Roman" panose="02020603050405020304" pitchFamily="18" charset="0"/>
                <a:cs typeface="Times New Roman" panose="02020603050405020304" pitchFamily="18" charset="0"/>
              </a:rPr>
              <a:t>Abstract</a:t>
            </a:r>
            <a:endParaRPr lang="en-US" dirty="0"/>
          </a:p>
        </p:txBody>
      </p:sp>
      <p:sp>
        <p:nvSpPr>
          <p:cNvPr id="5" name="Content Placeholder 4"/>
          <p:cNvSpPr>
            <a:spLocks noGrp="1"/>
          </p:cNvSpPr>
          <p:nvPr>
            <p:ph idx="1"/>
          </p:nvPr>
        </p:nvSpPr>
        <p:spPr>
          <a:xfrm>
            <a:off x="304800" y="990600"/>
            <a:ext cx="8487410" cy="5052695"/>
          </a:xfrm>
        </p:spPr>
        <p:txBody>
          <a:bodyPr>
            <a:noAutofit/>
          </a:bodyPr>
          <a:lstStyle/>
          <a:p>
            <a:pPr marL="0" indent="0">
              <a:buNone/>
            </a:pPr>
            <a:r>
              <a:rPr lang="en-US" altLang="en-US" sz="2000" dirty="0"/>
              <a:t>The increasing demand for energy and rapid development of smart buildings have made efficient energy management an important research area.</a:t>
            </a:r>
          </a:p>
          <a:p>
            <a:pPr marL="0" indent="0">
              <a:buNone/>
            </a:pPr>
            <a:endParaRPr lang="en-US" altLang="en-US" sz="2000" dirty="0"/>
          </a:p>
          <a:p>
            <a:pPr marL="0" indent="0">
              <a:buNone/>
            </a:pPr>
            <a:r>
              <a:rPr lang="en-US" altLang="en-US" sz="2000" dirty="0"/>
              <a:t>This project proposes an Intelligent Energy Consumption Analytics framework by integrating:</a:t>
            </a:r>
          </a:p>
          <a:p>
            <a:pPr marL="0" indent="0">
              <a:buNone/>
            </a:pPr>
            <a:r>
              <a:rPr lang="en-US" altLang="en-US" sz="2000" dirty="0"/>
              <a:t>Data Preprocessing → EDA → Feature Engineering → Machine Learning → Model Evaluation → Visualization</a:t>
            </a:r>
            <a:r>
              <a:rPr lang="en-IN" altLang="en-US" sz="2000" dirty="0"/>
              <a:t>.</a:t>
            </a:r>
            <a:endParaRPr lang="en-US" altLang="en-US" sz="2000" dirty="0"/>
          </a:p>
          <a:p>
            <a:pPr marL="0" indent="0">
              <a:buNone/>
            </a:pPr>
            <a:r>
              <a:rPr lang="en-US" altLang="en-US" sz="2000" dirty="0"/>
              <a:t>Three benchmark datasets are considered:</a:t>
            </a:r>
          </a:p>
          <a:p>
            <a:pPr>
              <a:buFont typeface="Wingdings" panose="05000000000000000000" charset="0"/>
              <a:buChar char="Ø"/>
            </a:pPr>
            <a:r>
              <a:rPr lang="en-US" altLang="en-US" sz="2000" dirty="0"/>
              <a:t>Energy Efficiency Dataset</a:t>
            </a:r>
          </a:p>
          <a:p>
            <a:pPr>
              <a:buFont typeface="Wingdings" panose="05000000000000000000" charset="0"/>
              <a:buChar char="Ø"/>
            </a:pPr>
            <a:r>
              <a:rPr lang="en-US" altLang="en-US" sz="2000" dirty="0"/>
              <a:t>Appliances Energy Prediction Dataset</a:t>
            </a:r>
          </a:p>
          <a:p>
            <a:pPr>
              <a:buFont typeface="Wingdings" panose="05000000000000000000" charset="0"/>
              <a:buChar char="Ø"/>
            </a:pPr>
            <a:r>
              <a:rPr lang="en-US" altLang="en-US" sz="2000" dirty="0"/>
              <a:t>ASHRAE Great Energy Predictor III Dataset</a:t>
            </a:r>
          </a:p>
          <a:p>
            <a:pPr>
              <a:buFont typeface="Wingdings" panose="05000000000000000000" charset="0"/>
              <a:buChar char="Ø"/>
            </a:pPr>
            <a:r>
              <a:rPr lang="en-US" altLang="en-US" sz="2000" dirty="0"/>
              <a:t>The project applies machine learning models including:</a:t>
            </a:r>
          </a:p>
          <a:p>
            <a:pPr>
              <a:buFont typeface="Wingdings" panose="05000000000000000000" charset="0"/>
              <a:buChar char="Ø"/>
            </a:pPr>
            <a:r>
              <a:rPr lang="en-US" altLang="en-US" sz="2000" dirty="0"/>
              <a:t>Linear Regression</a:t>
            </a:r>
            <a:r>
              <a:rPr lang="en-IN" altLang="en-US" sz="2000" dirty="0"/>
              <a:t>,</a:t>
            </a:r>
            <a:r>
              <a:rPr lang="en-US" altLang="en-US" sz="2000" dirty="0"/>
              <a:t>Decision Tree</a:t>
            </a:r>
            <a:r>
              <a:rPr lang="en-IN" altLang="en-US" sz="2000" dirty="0"/>
              <a:t>,</a:t>
            </a:r>
            <a:r>
              <a:rPr lang="en-US" altLang="en-US" sz="2000" dirty="0"/>
              <a:t>Random Forest</a:t>
            </a:r>
            <a:r>
              <a:rPr lang="en-IN" altLang="en-US" sz="2000" dirty="0"/>
              <a:t>,</a:t>
            </a:r>
            <a:r>
              <a:rPr lang="en-US" altLang="en-US" sz="2000" dirty="0"/>
              <a:t>XGBoost</a:t>
            </a:r>
            <a:r>
              <a:rPr lang="en-IN" altLang="en-US" sz="2000" dirty="0"/>
              <a:t>,</a:t>
            </a:r>
            <a:r>
              <a:rPr lang="en-US" altLang="en-US" sz="2000" dirty="0"/>
              <a:t>CatBoost</a:t>
            </a:r>
          </a:p>
          <a:p>
            <a:pPr>
              <a:buFont typeface="Wingdings" panose="05000000000000000000" charset="0"/>
              <a:buChar char="Ø"/>
            </a:pPr>
            <a:r>
              <a:rPr lang="en-US" altLang="en-US" sz="2000" dirty="0"/>
              <a:t>The models are evaluated using MAE, MSE, RMSE and R² Score to identify the most suitable model for energy consumption prediction.</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81075" cy="98488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517"/>
            <a:ext cx="8229600" cy="1143000"/>
          </a:xfrm>
        </p:spPr>
        <p:txBody>
          <a:bodyPr>
            <a:normAutofit/>
          </a:bodyPr>
          <a:lstStyle/>
          <a:p>
            <a:r>
              <a:rPr lang="en-US" b="1" dirty="0">
                <a:solidFill>
                  <a:srgbClr val="0070C0"/>
                </a:solidFill>
                <a:latin typeface="Times New Roman" panose="02020603050405020304" pitchFamily="18" charset="0"/>
                <a:cs typeface="Times New Roman" panose="02020603050405020304" pitchFamily="18" charset="0"/>
              </a:rPr>
              <a:t>Project flow diagram</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124585" cy="1129665"/>
          </a:xfrm>
          <a:prstGeom prst="rect">
            <a:avLst/>
          </a:prstGeom>
          <a:noFill/>
          <a:ln>
            <a:noFill/>
          </a:ln>
        </p:spPr>
      </p:pic>
      <p:sp>
        <p:nvSpPr>
          <p:cNvPr id="4" name="Content Placeholder 3"/>
          <p:cNvSpPr>
            <a:spLocks noGrp="1"/>
          </p:cNvSpPr>
          <p:nvPr>
            <p:ph idx="1"/>
          </p:nvPr>
        </p:nvSpPr>
        <p:spPr/>
        <p:txBody>
          <a:bodyPr/>
          <a:lstStyle/>
          <a:p>
            <a:endParaRPr lang="en-IN"/>
          </a:p>
        </p:txBody>
      </p:sp>
      <p:pic>
        <p:nvPicPr>
          <p:cNvPr id="5" name="Picture 4" descr="_- visual selection (2)"/>
          <p:cNvPicPr>
            <a:picLocks noChangeAspect="1"/>
          </p:cNvPicPr>
          <p:nvPr/>
        </p:nvPicPr>
        <p:blipFill>
          <a:blip r:embed="rId3"/>
          <a:stretch>
            <a:fillRect/>
          </a:stretch>
        </p:blipFill>
        <p:spPr>
          <a:xfrm>
            <a:off x="-76200" y="1053465"/>
            <a:ext cx="9155430" cy="60553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r>
              <a:rPr lang="en-US" altLang="en-US" sz="2000" dirty="0"/>
              <a:t>Previous research in the field of smart buildings and energy analytics has shown that Machine Learning can be effectively used to understand and predict energy consumption. Researchers have focused on analyzing factors such as building characteristics, environmental conditions, appliance usage, and historical energy consumption to identify important energy patterns.</a:t>
            </a:r>
          </a:p>
          <a:p>
            <a:r>
              <a:rPr lang="en-US" altLang="en-US" sz="2000" dirty="0"/>
              <a:t>Studies also highlight the importance of data preprocessing and Exploratory Data Analysis (EDA) before applying machine learning. Techniques such as missing-value handling, duplicate removal, outlier detection, correlation analysis, feature engineering, and feature selection help improve the quality of the data and prediction results</a:t>
            </a:r>
            <a:r>
              <a:rPr lang="en-IN" altLang="en-US" sz="2000" dirty="0"/>
              <a:t>.</a:t>
            </a:r>
            <a:endParaRPr lang="en-US" altLang="en-US" sz="2000" dirty="0"/>
          </a:p>
          <a:p>
            <a:r>
              <a:rPr lang="en-US" altLang="en-US" sz="2000" dirty="0"/>
              <a:t>Various machine learning models, including Linear Regression, Decision Tree, Random Forest, XGBoost, and CatBoost, have been explored for energy consumption prediction. Comparing these models using MAE, MSE, RMSE, and R² Score helps identify the most suitable model for accurate prediction.</a:t>
            </a:r>
          </a:p>
          <a:p>
            <a:r>
              <a:rPr lang="en-US" altLang="en-US" sz="2000" dirty="0"/>
              <a:t>Based on these findings, our project integrates data preprocessing, EDA, feature engineering, feature selection, multiple machine learning models, performance evaluation, and visualization into a single end-to-end framework for intelligent energy consumption analytics in smart buildings.</a:t>
            </a:r>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717"/>
            <a:ext cx="8229600" cy="1143000"/>
          </a:xfrm>
        </p:spPr>
        <p:txBody>
          <a:bodyPr/>
          <a:lstStyle/>
          <a:p>
            <a:r>
              <a:rPr lang="en-IN" altLang="en-US" b="1" dirty="0">
                <a:solidFill>
                  <a:srgbClr val="0070C0"/>
                </a:solidFill>
                <a:latin typeface="Times New Roman" panose="02020603050405020304" pitchFamily="18" charset="0"/>
                <a:cs typeface="Times New Roman" panose="02020603050405020304" pitchFamily="18" charset="0"/>
              </a:rPr>
              <a:t>Literature Survey</a:t>
            </a:r>
          </a:p>
        </p:txBody>
      </p:sp>
      <p:sp>
        <p:nvSpPr>
          <p:cNvPr id="5" name="Content Placeholder 4"/>
          <p:cNvSpPr>
            <a:spLocks noGrp="1"/>
          </p:cNvSpPr>
          <p:nvPr>
            <p:ph idx="1"/>
          </p:nvPr>
        </p:nvSpPr>
        <p:spPr>
          <a:xfrm>
            <a:off x="0" y="838200"/>
            <a:ext cx="8943975" cy="5052695"/>
          </a:xfrm>
        </p:spPr>
        <p:txBody>
          <a:bodyPr>
            <a:noAutofit/>
          </a:bodyPr>
          <a:lstStyle/>
          <a:p>
            <a:endParaRPr lang="en-IN" sz="2000" dirty="0"/>
          </a:p>
          <a:p>
            <a:pPr marL="0" indent="0">
              <a:buNone/>
            </a:pPr>
            <a:r>
              <a:rPr lang="en-IN" sz="2000" dirty="0"/>
              <a:t>Literature Survey – Click here to view research papers</a:t>
            </a:r>
            <a:endParaRPr lang="en-US" altLang="en-US" sz="2000" dirty="0">
              <a:hlinkClick r:id="rId2"/>
            </a:endParaRPr>
          </a:p>
          <a:p>
            <a:r>
              <a:rPr lang="en-US" altLang="en-US" sz="2000" dirty="0">
                <a:hlinkClick r:id="rId2"/>
              </a:rPr>
              <a:t>https://link.springer.com/journals</a:t>
            </a:r>
            <a:endParaRPr lang="en-US" altLang="en-US" sz="2000" dirty="0"/>
          </a:p>
          <a:p>
            <a:endParaRPr lang="en-IN" sz="2000" dirty="0"/>
          </a:p>
          <a:p>
            <a:pPr marL="457200" lvl="0" indent="-457200">
              <a:buFont typeface="+mj-lt"/>
              <a:buAutoNum type="arabicPeriod"/>
            </a:pPr>
            <a:r>
              <a:rPr lang="en-IN" sz="2000" dirty="0"/>
              <a:t>Huotari et al. (2024) – </a:t>
            </a:r>
            <a:r>
              <a:rPr lang="en-IN" sz="2000" i="1" dirty="0"/>
              <a:t>Machine Learning Applications for Smart Building Energy Utilization: A Survey</a:t>
            </a:r>
            <a:r>
              <a:rPr lang="en-IN" sz="2000" dirty="0"/>
              <a:t> </a:t>
            </a:r>
          </a:p>
          <a:p>
            <a:pPr marL="457200" lvl="0" indent="-457200">
              <a:buFont typeface="+mj-lt"/>
              <a:buAutoNum type="arabicPeriod"/>
            </a:pPr>
            <a:r>
              <a:rPr lang="en-IN" sz="2000" dirty="0"/>
              <a:t>Himeur et al. (2021) – </a:t>
            </a:r>
            <a:r>
              <a:rPr lang="en-IN" sz="2000" i="1" dirty="0"/>
              <a:t>Artificial Intelligence Based Anomaly Detection of Energy Consumption in Buildings</a:t>
            </a:r>
            <a:r>
              <a:rPr lang="en-IN" sz="2000" dirty="0"/>
              <a:t> </a:t>
            </a:r>
          </a:p>
          <a:p>
            <a:pPr marL="457200" lvl="0" indent="-457200">
              <a:buFont typeface="+mj-lt"/>
              <a:buAutoNum type="arabicPeriod"/>
            </a:pPr>
            <a:r>
              <a:rPr lang="en-IN" sz="2000" dirty="0" err="1"/>
              <a:t>Seyedzadeh</a:t>
            </a:r>
            <a:r>
              <a:rPr lang="en-IN" sz="2000" dirty="0"/>
              <a:t> et al. (2018) – </a:t>
            </a:r>
            <a:r>
              <a:rPr lang="en-IN" sz="2000" i="1" dirty="0"/>
              <a:t>Machine Learning for Estimation of Building Energy Consumption and Performance: A Review</a:t>
            </a:r>
            <a:r>
              <a:rPr lang="en-IN" sz="2000" dirty="0"/>
              <a:t> </a:t>
            </a:r>
          </a:p>
          <a:p>
            <a:pPr marL="457200" lvl="0" indent="-457200">
              <a:buFont typeface="+mj-lt"/>
              <a:buAutoNum type="arabicPeriod"/>
            </a:pPr>
            <a:r>
              <a:rPr lang="en-IN" sz="2000" dirty="0" err="1"/>
              <a:t>Bensaali</a:t>
            </a:r>
            <a:r>
              <a:rPr lang="en-IN" sz="2000" dirty="0"/>
              <a:t> et al. / related survey – </a:t>
            </a:r>
            <a:r>
              <a:rPr lang="en-IN" sz="2000" i="1" dirty="0"/>
              <a:t>AI-Big Data Analytics for Building Automation and Management Systems</a:t>
            </a:r>
            <a:endParaRPr lang="en-IN" sz="2000" dirty="0"/>
          </a:p>
          <a:p>
            <a:endParaRPr lang="en-US" altLang="en-US" sz="2000" dirty="0"/>
          </a:p>
        </p:txBody>
      </p:sp>
      <p:pic>
        <p:nvPicPr>
          <p:cNvPr id="6" name="Picture 5" descr="KL University - KL University added a ..."/>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76200"/>
            <a:ext cx="981075" cy="98488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latin typeface="Times New Roman" panose="02020603050405020304" pitchFamily="18" charset="0"/>
                <a:cs typeface="Times New Roman" panose="02020603050405020304" pitchFamily="18" charset="0"/>
              </a:rPr>
              <a:t>Objectives with justification</a:t>
            </a:r>
            <a:br>
              <a:rPr lang="en-US" b="1" dirty="0">
                <a:solidFill>
                  <a:srgbClr val="0070C0"/>
                </a:solidFill>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76200" y="1447800"/>
            <a:ext cx="9518015" cy="4842510"/>
          </a:xfrm>
        </p:spPr>
        <p:txBody>
          <a:bodyPr>
            <a:noAutofit/>
          </a:bodyPr>
          <a:lstStyle/>
          <a:p>
            <a:pPr>
              <a:lnSpc>
                <a:spcPct val="60000"/>
              </a:lnSpc>
            </a:pPr>
            <a:r>
              <a:rPr lang="en-US" altLang="en-US" sz="1800" b="1" dirty="0"/>
              <a:t>1. Develop an End-to-End Energy Analytics Framework</a:t>
            </a:r>
          </a:p>
          <a:p>
            <a:pPr marL="0" indent="0">
              <a:lnSpc>
                <a:spcPct val="60000"/>
              </a:lnSpc>
              <a:buNone/>
            </a:pPr>
            <a:endParaRPr lang="en-US" altLang="en-US" sz="1800" dirty="0"/>
          </a:p>
          <a:p>
            <a:pPr>
              <a:lnSpc>
                <a:spcPct val="60000"/>
              </a:lnSpc>
            </a:pPr>
            <a:r>
              <a:rPr lang="en-US" altLang="en-US" sz="1800" dirty="0"/>
              <a:t>→ Integrate data ingestion, preprocessing, EDA, ML, database and visualization.</a:t>
            </a:r>
          </a:p>
          <a:p>
            <a:pPr>
              <a:lnSpc>
                <a:spcPct val="60000"/>
              </a:lnSpc>
            </a:pPr>
            <a:endParaRPr lang="en-US" altLang="en-US" sz="1800" b="1" dirty="0"/>
          </a:p>
          <a:p>
            <a:pPr>
              <a:lnSpc>
                <a:spcPct val="60000"/>
              </a:lnSpc>
            </a:pPr>
            <a:r>
              <a:rPr lang="en-US" altLang="en-US" sz="1800" b="1" dirty="0"/>
              <a:t>2. Analyze Building Energy Consumption</a:t>
            </a:r>
          </a:p>
          <a:p>
            <a:pPr>
              <a:lnSpc>
                <a:spcPct val="60000"/>
              </a:lnSpc>
            </a:pPr>
            <a:endParaRPr lang="en-US" altLang="en-US" sz="1800" dirty="0"/>
          </a:p>
          <a:p>
            <a:pPr>
              <a:lnSpc>
                <a:spcPct val="60000"/>
              </a:lnSpc>
            </a:pPr>
            <a:r>
              <a:rPr lang="en-US" altLang="en-US" sz="1800" dirty="0"/>
              <a:t>→ Identify consumption patterns based on factors such as temperature, humidity, time, </a:t>
            </a:r>
          </a:p>
          <a:p>
            <a:pPr marL="0" indent="457200">
              <a:lnSpc>
                <a:spcPct val="60000"/>
              </a:lnSpc>
              <a:buNone/>
            </a:pPr>
            <a:r>
              <a:rPr lang="en-US" altLang="en-US" sz="1800" dirty="0"/>
              <a:t>appliances and building conditions.</a:t>
            </a:r>
          </a:p>
          <a:p>
            <a:pPr>
              <a:lnSpc>
                <a:spcPct val="60000"/>
              </a:lnSpc>
            </a:pPr>
            <a:endParaRPr lang="en-US" altLang="en-US" sz="1800" dirty="0"/>
          </a:p>
          <a:p>
            <a:pPr>
              <a:lnSpc>
                <a:spcPct val="60000"/>
              </a:lnSpc>
            </a:pPr>
            <a:r>
              <a:rPr lang="en-US" altLang="en-US" sz="1800" b="1" dirty="0"/>
              <a:t>3. Develop Energy Prediction Models</a:t>
            </a:r>
          </a:p>
          <a:p>
            <a:pPr>
              <a:lnSpc>
                <a:spcPct val="60000"/>
              </a:lnSpc>
            </a:pPr>
            <a:endParaRPr lang="en-US" altLang="en-US" sz="1800" dirty="0"/>
          </a:p>
          <a:p>
            <a:pPr>
              <a:lnSpc>
                <a:spcPct val="60000"/>
              </a:lnSpc>
            </a:pPr>
            <a:r>
              <a:rPr lang="en-US" altLang="en-US" sz="1800" dirty="0"/>
              <a:t>→ Predict future energy consumption using Machine Learning algorithms.</a:t>
            </a:r>
          </a:p>
          <a:p>
            <a:pPr>
              <a:lnSpc>
                <a:spcPct val="60000"/>
              </a:lnSpc>
            </a:pPr>
            <a:endParaRPr lang="en-US" altLang="en-US" sz="1800" dirty="0"/>
          </a:p>
          <a:p>
            <a:pPr>
              <a:lnSpc>
                <a:spcPct val="60000"/>
              </a:lnSpc>
            </a:pPr>
            <a:r>
              <a:rPr lang="en-US" altLang="en-US" sz="1800" b="1" dirty="0"/>
              <a:t>4. Detect Abnormal Energy Consumption</a:t>
            </a:r>
          </a:p>
          <a:p>
            <a:pPr>
              <a:lnSpc>
                <a:spcPct val="60000"/>
              </a:lnSpc>
            </a:pPr>
            <a:endParaRPr lang="en-US" altLang="en-US" sz="1800" dirty="0"/>
          </a:p>
          <a:p>
            <a:pPr>
              <a:lnSpc>
                <a:spcPct val="60000"/>
              </a:lnSpc>
            </a:pPr>
            <a:r>
              <a:rPr lang="en-US" altLang="en-US" sz="1800" dirty="0"/>
              <a:t>→ Identify unusual or unexpected energy usage patterns.</a:t>
            </a:r>
          </a:p>
          <a:p>
            <a:pPr>
              <a:lnSpc>
                <a:spcPct val="60000"/>
              </a:lnSpc>
            </a:pPr>
            <a:endParaRPr lang="en-US" altLang="en-US" sz="1800" dirty="0"/>
          </a:p>
          <a:p>
            <a:pPr>
              <a:lnSpc>
                <a:spcPct val="60000"/>
              </a:lnSpc>
            </a:pPr>
            <a:r>
              <a:rPr lang="en-US" altLang="en-US" sz="1800" b="1" dirty="0"/>
              <a:t>5. Develop Interactive Dashboards</a:t>
            </a:r>
          </a:p>
          <a:p>
            <a:pPr>
              <a:lnSpc>
                <a:spcPct val="60000"/>
              </a:lnSpc>
            </a:pPr>
            <a:endParaRPr lang="en-US" altLang="en-US" sz="1800" dirty="0"/>
          </a:p>
          <a:p>
            <a:pPr>
              <a:lnSpc>
                <a:spcPct val="60000"/>
              </a:lnSpc>
            </a:pPr>
            <a:r>
              <a:rPr lang="en-US" altLang="en-US" sz="1800" dirty="0"/>
              <a:t>→ Visualize energy consumption, predictions, anomalies and important energy trends.</a:t>
            </a:r>
          </a:p>
          <a:p>
            <a:pPr>
              <a:lnSpc>
                <a:spcPct val="60000"/>
              </a:lnSpc>
            </a:pPr>
            <a:endParaRPr lang="en-US" altLang="en-US" sz="1800" dirty="0"/>
          </a:p>
          <a:p>
            <a:pPr>
              <a:lnSpc>
                <a:spcPct val="60000"/>
              </a:lnSpc>
            </a:pPr>
            <a:r>
              <a:rPr lang="en-US" altLang="en-US" sz="1800" b="1" dirty="0"/>
              <a:t>6. Generate Energy-Saving Recommendations</a:t>
            </a:r>
          </a:p>
          <a:p>
            <a:pPr>
              <a:lnSpc>
                <a:spcPct val="60000"/>
              </a:lnSpc>
            </a:pPr>
            <a:endParaRPr lang="en-US" altLang="en-US" sz="1800" dirty="0"/>
          </a:p>
          <a:p>
            <a:pPr>
              <a:lnSpc>
                <a:spcPct val="60000"/>
              </a:lnSpc>
            </a:pPr>
            <a:r>
              <a:rPr lang="en-US" altLang="en-US" sz="1800" dirty="0"/>
              <a:t>→ Convert analytical results into practical recommendations for reducing energy wastage.</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22045" cy="112649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1"/>
                </a:solidFill>
                <a:latin typeface="Times New Roman" panose="02020603050405020304" pitchFamily="18" charset="0"/>
                <a:cs typeface="Times New Roman" panose="02020603050405020304" pitchFamily="18" charset="0"/>
              </a:rPr>
              <a:t>Research gaps</a:t>
            </a:r>
            <a:br>
              <a:rPr lang="en-US" dirty="0">
                <a:latin typeface="Times New Roman" panose="02020603050405020304" pitchFamily="18" charset="0"/>
                <a:cs typeface="Times New Roman" panose="02020603050405020304" pitchFamily="18" charset="0"/>
              </a:rPr>
            </a:br>
            <a:endParaRPr lang="en-US" b="1" dirty="0">
              <a:solidFill>
                <a:srgbClr val="0070C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fontScale="77500" lnSpcReduction="10000"/>
          </a:bodyPr>
          <a:lstStyle/>
          <a:p>
            <a:r>
              <a:rPr lang="en-US" altLang="en-US" dirty="0"/>
              <a:t>Limited end-to-end integration of energy data engineering, analytics and machine learning.</a:t>
            </a:r>
          </a:p>
          <a:p>
            <a:r>
              <a:rPr lang="en-US" altLang="en-US" dirty="0"/>
              <a:t>Many systems focus only on energy prediction without anomaly detection.</a:t>
            </a:r>
          </a:p>
          <a:p>
            <a:r>
              <a:rPr lang="en-US" altLang="en-US" dirty="0"/>
              <a:t>Limited integration of prediction + anomaly detection + recommendations.</a:t>
            </a:r>
          </a:p>
          <a:p>
            <a:r>
              <a:rPr lang="en-US" altLang="en-US" dirty="0"/>
              <a:t>Limited conversion of ML results into actionable energy-saving decisions.</a:t>
            </a:r>
          </a:p>
          <a:p>
            <a:r>
              <a:rPr lang="en-US" altLang="en-US" dirty="0"/>
              <a:t>Limited use of interactive dashboards for presenting ML-based energy insights.</a:t>
            </a:r>
          </a:p>
          <a:p>
            <a:r>
              <a:rPr lang="en-US" altLang="en-US" dirty="0"/>
              <a:t>Limited integration of multiple energy-related datasets into a unified analytics framework.</a:t>
            </a:r>
          </a:p>
        </p:txBody>
      </p:sp>
      <p:pic>
        <p:nvPicPr>
          <p:cNvPr id="3" name="Picture 2"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172" y="76200"/>
            <a:ext cx="1042063" cy="104610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905" y="76200"/>
            <a:ext cx="8229600" cy="1143000"/>
          </a:xfrm>
        </p:spPr>
        <p:txBody>
          <a:bodyPr>
            <a:normAutofit/>
          </a:bodyPr>
          <a:lstStyle/>
          <a:p>
            <a:r>
              <a:rPr lang="en-US" b="1" dirty="0">
                <a:solidFill>
                  <a:srgbClr val="0070C0"/>
                </a:solidFill>
                <a:latin typeface="Times New Roman" panose="02020603050405020304" pitchFamily="18" charset="0"/>
                <a:cs typeface="Times New Roman" panose="02020603050405020304" pitchFamily="18" charset="0"/>
              </a:rPr>
              <a:t>Novelty</a:t>
            </a:r>
          </a:p>
        </p:txBody>
      </p:sp>
      <p:pic>
        <p:nvPicPr>
          <p:cNvPr id="3" name="Picture 2" descr="KL University - KL University added a ..."/>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6985"/>
            <a:ext cx="880745" cy="884555"/>
          </a:xfrm>
          <a:prstGeom prst="rect">
            <a:avLst/>
          </a:prstGeom>
          <a:noFill/>
          <a:ln>
            <a:noFill/>
          </a:ln>
        </p:spPr>
      </p:pic>
      <p:sp>
        <p:nvSpPr>
          <p:cNvPr id="5" name="TextBox 4"/>
          <p:cNvSpPr txBox="1"/>
          <p:nvPr/>
        </p:nvSpPr>
        <p:spPr>
          <a:xfrm>
            <a:off x="228600" y="987425"/>
            <a:ext cx="8917940" cy="3717925"/>
          </a:xfrm>
          <a:prstGeom prst="rect">
            <a:avLst/>
          </a:prstGeom>
          <a:noFill/>
        </p:spPr>
        <p:txBody>
          <a:bodyPr wrap="square">
            <a:noAutofit/>
          </a:bodyPr>
          <a:lstStyle/>
          <a:p>
            <a:pPr marL="285750" indent="-285750" algn="just">
              <a:buFont typeface="Arial" panose="020B0604020202020204" pitchFamily="34" charset="0"/>
              <a:buChar char="•"/>
            </a:pPr>
            <a:r>
              <a:rPr lang="en-US" altLang="en-US" sz="2000" b="1" dirty="0"/>
              <a:t>1. Dual Intelligence</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The system performs both:</a:t>
            </a:r>
          </a:p>
          <a:p>
            <a:pPr marL="285750" indent="-285750" algn="just">
              <a:buFont typeface="Arial" panose="020B0604020202020204" pitchFamily="34" charset="0"/>
              <a:buChar char="•"/>
            </a:pPr>
            <a:r>
              <a:rPr lang="en-US" altLang="en-US" sz="2000" dirty="0"/>
              <a:t>Energy Prediction + Anomaly Detection</a:t>
            </a:r>
          </a:p>
          <a:p>
            <a:pPr marL="285750" indent="-285750" algn="just">
              <a:buFont typeface="Arial" panose="020B0604020202020204" pitchFamily="34" charset="0"/>
              <a:buChar char="•"/>
            </a:pPr>
            <a:r>
              <a:rPr lang="en-US" altLang="en-US" sz="2000" dirty="0"/>
              <a:t>rather than focusing on only one.</a:t>
            </a:r>
          </a:p>
          <a:p>
            <a:pPr marL="285750" indent="-285750" algn="just">
              <a:buFont typeface="Arial" panose="020B0604020202020204" pitchFamily="34" charset="0"/>
              <a:buChar char="•"/>
            </a:pPr>
            <a:endParaRPr lang="en-US" altLang="en-US" sz="2000" dirty="0"/>
          </a:p>
          <a:p>
            <a:pPr marL="285750" indent="-285750" algn="just">
              <a:buFont typeface="Arial" panose="020B0604020202020204" pitchFamily="34" charset="0"/>
              <a:buChar char="•"/>
            </a:pPr>
            <a:r>
              <a:rPr lang="en-US" altLang="en-US" sz="2000" b="1" dirty="0"/>
              <a:t>2. Energy Recommendation Engine</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The system converts ML results into recommendations such as:</a:t>
            </a:r>
          </a:p>
          <a:p>
            <a:pPr marL="285750" indent="-285750" algn="just">
              <a:buFont typeface="Arial" panose="020B0604020202020204" pitchFamily="34" charset="0"/>
              <a:buChar char="•"/>
            </a:pPr>
            <a:r>
              <a:rPr lang="en-US" altLang="en-US" sz="2000" dirty="0"/>
              <a:t>Reduce unnecessary appliance usage</a:t>
            </a:r>
          </a:p>
          <a:p>
            <a:pPr marL="285750" indent="-285750" algn="just">
              <a:buFont typeface="Arial" panose="020B0604020202020204" pitchFamily="34" charset="0"/>
              <a:buChar char="•"/>
            </a:pPr>
            <a:r>
              <a:rPr lang="en-US" altLang="en-US" sz="2000" dirty="0"/>
              <a:t>Identify unusual energy consumption</a:t>
            </a:r>
          </a:p>
          <a:p>
            <a:pPr marL="285750" indent="-285750" algn="just">
              <a:buFont typeface="Arial" panose="020B0604020202020204" pitchFamily="34" charset="0"/>
              <a:buChar char="•"/>
            </a:pPr>
            <a:r>
              <a:rPr lang="en-US" altLang="en-US" sz="2000" dirty="0"/>
              <a:t>Optimize high-consumption periods</a:t>
            </a:r>
          </a:p>
          <a:p>
            <a:pPr marL="285750" indent="-285750" algn="just">
              <a:buFont typeface="Arial" panose="020B0604020202020204" pitchFamily="34" charset="0"/>
              <a:buChar char="•"/>
            </a:pPr>
            <a:r>
              <a:rPr lang="en-US" altLang="en-US" sz="2000" dirty="0"/>
              <a:t>Identify inefficient usage patterns</a:t>
            </a:r>
          </a:p>
          <a:p>
            <a:pPr marL="285750" indent="-285750" algn="just">
              <a:buFont typeface="Arial" panose="020B0604020202020204" pitchFamily="34" charset="0"/>
              <a:buChar char="•"/>
            </a:pPr>
            <a:endParaRPr lang="en-US" altLang="en-US" sz="2000" dirty="0"/>
          </a:p>
          <a:p>
            <a:pPr marL="285750" indent="-285750" algn="just">
              <a:buFont typeface="Arial" panose="020B0604020202020204" pitchFamily="34" charset="0"/>
              <a:buChar char="•"/>
            </a:pPr>
            <a:r>
              <a:rPr lang="en-US" altLang="en-US" sz="2000" b="1" dirty="0"/>
              <a:t>3. End-to-End Framework</a:t>
            </a:r>
          </a:p>
          <a:p>
            <a:pPr marL="285750" indent="-285750" algn="just">
              <a:buFont typeface="Arial" panose="020B0604020202020204" pitchFamily="34" charset="0"/>
              <a:buChar char="•"/>
            </a:pPr>
            <a:endParaRPr lang="en-US" altLang="en-US" sz="2000" b="1" dirty="0"/>
          </a:p>
          <a:p>
            <a:pPr marL="285750" indent="-285750" algn="just">
              <a:buFont typeface="Arial" panose="020B0604020202020204" pitchFamily="34" charset="0"/>
              <a:buChar char="•"/>
            </a:pPr>
            <a:r>
              <a:rPr lang="en-US" altLang="en-US" sz="2000" dirty="0"/>
              <a:t>Integrates:</a:t>
            </a:r>
          </a:p>
          <a:p>
            <a:pPr marL="285750" indent="-285750" algn="just">
              <a:buFont typeface="Arial" panose="020B0604020202020204" pitchFamily="34" charset="0"/>
              <a:buChar char="•"/>
            </a:pPr>
            <a:r>
              <a:rPr lang="en-US" altLang="en-US" sz="2000" dirty="0"/>
              <a:t>Data Engineering → Analytics → ML → Database → Dashboard → Recommendations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0795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04800" y="1066800"/>
            <a:ext cx="10434955" cy="4526280"/>
          </a:xfrm>
        </p:spPr>
        <p:txBody>
          <a:bodyPr>
            <a:normAutofit fontScale="25000" lnSpcReduction="20000"/>
          </a:bodyPr>
          <a:lstStyle/>
          <a:p>
            <a:pPr marL="0" indent="0">
              <a:buNone/>
            </a:pPr>
            <a:r>
              <a:rPr lang="en-IN" altLang="en-US" sz="7200" b="1" dirty="0"/>
              <a:t>1.</a:t>
            </a:r>
            <a:r>
              <a:rPr lang="en-US" altLang="en-US" sz="7200" b="1" dirty="0"/>
              <a:t>The project can be developed using:</a:t>
            </a:r>
          </a:p>
          <a:p>
            <a:r>
              <a:rPr lang="en-US" altLang="en-US" sz="7200" dirty="0"/>
              <a:t>Python</a:t>
            </a:r>
          </a:p>
          <a:p>
            <a:r>
              <a:rPr lang="en-US" altLang="en-US" sz="7200" dirty="0"/>
              <a:t>Pandas</a:t>
            </a:r>
          </a:p>
          <a:p>
            <a:r>
              <a:rPr lang="en-US" altLang="en-US" sz="7200" dirty="0"/>
              <a:t>NumPy</a:t>
            </a:r>
          </a:p>
          <a:p>
            <a:r>
              <a:rPr lang="en-US" altLang="en-US" sz="7200" dirty="0"/>
              <a:t>Matplotlib</a:t>
            </a:r>
          </a:p>
          <a:p>
            <a:r>
              <a:rPr lang="en-US" altLang="en-US" sz="7200" dirty="0"/>
              <a:t>Seaborn</a:t>
            </a:r>
          </a:p>
          <a:p>
            <a:r>
              <a:rPr lang="en-US" altLang="en-US" sz="7200" dirty="0"/>
              <a:t>Scikit-learn</a:t>
            </a:r>
          </a:p>
          <a:p>
            <a:r>
              <a:rPr lang="en-US" altLang="en-US" sz="7200" dirty="0"/>
              <a:t>SQL/MySQL</a:t>
            </a:r>
          </a:p>
          <a:p>
            <a:r>
              <a:rPr lang="en-US" altLang="en-US" sz="7200" dirty="0"/>
              <a:t>Power BI</a:t>
            </a:r>
          </a:p>
          <a:p>
            <a:r>
              <a:rPr lang="en-US" altLang="en-US" sz="7200" dirty="0"/>
              <a:t>Streamlit or similar web technologies</a:t>
            </a:r>
          </a:p>
          <a:p>
            <a:r>
              <a:rPr lang="en-US" altLang="en-US" sz="7200" dirty="0"/>
              <a:t>Energy datasets provide variables required for consumption analysis and prediction.</a:t>
            </a:r>
          </a:p>
          <a:p>
            <a:pPr marL="0" indent="0">
              <a:buNone/>
            </a:pPr>
            <a:r>
              <a:rPr lang="en-US" altLang="en-US" sz="7200" b="1" dirty="0"/>
              <a:t>2. Economic Feasibility</a:t>
            </a:r>
          </a:p>
          <a:p>
            <a:r>
              <a:rPr lang="en-US" altLang="en-US" sz="7200" dirty="0"/>
              <a:t>Most tools are free/open source.</a:t>
            </a:r>
          </a:p>
          <a:p>
            <a:r>
              <a:rPr lang="en-US" altLang="en-US" sz="7200" dirty="0"/>
              <a:t>Public benchmark datasets can be used.</a:t>
            </a:r>
          </a:p>
          <a:p>
            <a:r>
              <a:rPr lang="en-US" altLang="en-US" sz="7200" dirty="0"/>
              <a:t>No specialized hardware is required for the initial implementation.</a:t>
            </a:r>
          </a:p>
          <a:p>
            <a:r>
              <a:rPr lang="en-US" altLang="en-US" sz="7200" dirty="0"/>
              <a:t>Development can be performed using existing computers.</a:t>
            </a:r>
          </a:p>
        </p:txBody>
      </p:sp>
      <p:pic>
        <p:nvPicPr>
          <p:cNvPr id="6" name="Picture 5" descr="KL University - KL University added a ..."/>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0"/>
            <a:ext cx="897890" cy="90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685800"/>
          </a:xfrm>
        </p:spPr>
        <p:txBody>
          <a:bodyPr>
            <a:normAutofit fontScale="90000"/>
          </a:bodyPr>
          <a:lstStyle/>
          <a:p>
            <a:r>
              <a:rPr lang="en-IN" b="1" dirty="0">
                <a:solidFill>
                  <a:schemeClr val="accent1"/>
                </a:solidFill>
              </a:rPr>
              <a:t>Feasibility of the Project</a:t>
            </a:r>
            <a:endParaRPr lang="en-IN" b="1" dirty="0">
              <a:solidFill>
                <a:schemeClr val="accent1"/>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57200" y="1371600"/>
            <a:ext cx="7557135" cy="4526280"/>
          </a:xfrm>
        </p:spPr>
        <p:txBody>
          <a:bodyPr>
            <a:noAutofit/>
          </a:bodyPr>
          <a:lstStyle/>
          <a:p>
            <a:pPr marL="0" indent="0">
              <a:buNone/>
            </a:pPr>
            <a:r>
              <a:rPr lang="en-US" altLang="en-US" sz="1800" b="1" dirty="0">
                <a:sym typeface="+mn-ea"/>
              </a:rPr>
              <a:t>3. Operational Feasibility</a:t>
            </a:r>
            <a:endParaRPr lang="en-US" altLang="en-US" sz="1800" b="1" dirty="0"/>
          </a:p>
          <a:p>
            <a:pPr marL="0" indent="0">
              <a:buNone/>
            </a:pPr>
            <a:r>
              <a:rPr lang="en-US" altLang="en-US" sz="1800" dirty="0">
                <a:sym typeface="+mn-ea"/>
              </a:rPr>
              <a:t>The dashboard can provide:</a:t>
            </a:r>
            <a:endParaRPr lang="en-US" altLang="en-US" sz="1800" dirty="0"/>
          </a:p>
          <a:p>
            <a:pPr marL="0" indent="0">
              <a:buNone/>
            </a:pPr>
            <a:r>
              <a:rPr lang="en-US" altLang="en-US" sz="1800" dirty="0">
                <a:sym typeface="+mn-ea"/>
              </a:rPr>
              <a:t>Energy consumption trends</a:t>
            </a:r>
            <a:endParaRPr lang="en-US" altLang="en-US" sz="1800" dirty="0"/>
          </a:p>
          <a:p>
            <a:pPr marL="0" indent="0">
              <a:buNone/>
            </a:pPr>
            <a:r>
              <a:rPr lang="en-US" altLang="en-US" sz="1800" dirty="0">
                <a:sym typeface="+mn-ea"/>
              </a:rPr>
              <a:t>Prediction results</a:t>
            </a:r>
            <a:endParaRPr lang="en-US" altLang="en-US" sz="1800" dirty="0"/>
          </a:p>
          <a:p>
            <a:pPr marL="0" indent="0">
              <a:buNone/>
            </a:pPr>
            <a:r>
              <a:rPr lang="en-US" altLang="en-US" sz="1800" dirty="0">
                <a:sym typeface="+mn-ea"/>
              </a:rPr>
              <a:t>Anomaly alerts</a:t>
            </a:r>
            <a:endParaRPr lang="en-US" altLang="en-US" sz="1800" dirty="0"/>
          </a:p>
          <a:p>
            <a:pPr marL="0" indent="0">
              <a:buNone/>
            </a:pPr>
            <a:r>
              <a:rPr lang="en-US" altLang="en-US" sz="1800" dirty="0">
                <a:sym typeface="+mn-ea"/>
              </a:rPr>
              <a:t>Energy insights</a:t>
            </a:r>
            <a:endParaRPr lang="en-US" altLang="en-US" sz="1800" dirty="0"/>
          </a:p>
          <a:p>
            <a:pPr marL="0" indent="0">
              <a:buNone/>
            </a:pPr>
            <a:r>
              <a:rPr lang="en-US" altLang="en-US" sz="1800" dirty="0">
                <a:sym typeface="+mn-ea"/>
              </a:rPr>
              <a:t>Recommendations</a:t>
            </a:r>
            <a:endParaRPr lang="en-US" altLang="en-US" sz="1800" dirty="0"/>
          </a:p>
          <a:p>
            <a:pPr marL="0" indent="0">
              <a:buNone/>
            </a:pPr>
            <a:r>
              <a:rPr lang="en-US" altLang="en-US" sz="1800" dirty="0">
                <a:sym typeface="+mn-ea"/>
              </a:rPr>
              <a:t>This makes the output understandable even to non-technical users.</a:t>
            </a:r>
          </a:p>
          <a:p>
            <a:pPr marL="0" indent="0">
              <a:buNone/>
            </a:pPr>
            <a:endParaRPr lang="en-US" altLang="en-US" sz="1800" dirty="0"/>
          </a:p>
          <a:p>
            <a:pPr marL="0" indent="0">
              <a:buNone/>
            </a:pPr>
            <a:r>
              <a:rPr lang="en-US" altLang="en-US" sz="1800" b="1" dirty="0">
                <a:sym typeface="+mn-ea"/>
              </a:rPr>
              <a:t>4. Schedule Feasibility</a:t>
            </a:r>
            <a:endParaRPr lang="en-US" altLang="en-US" sz="1800" dirty="0"/>
          </a:p>
          <a:p>
            <a:pPr marL="0" indent="0">
              <a:buNone/>
            </a:pPr>
            <a:r>
              <a:rPr lang="en-US" altLang="en-US" sz="1800" dirty="0">
                <a:sym typeface="+mn-ea"/>
              </a:rPr>
              <a:t>The project can be developed progressively:</a:t>
            </a:r>
          </a:p>
          <a:p>
            <a:pPr marL="0" indent="0">
              <a:buNone/>
            </a:pPr>
            <a:endParaRPr lang="en-US" altLang="en-US" sz="1800" dirty="0"/>
          </a:p>
          <a:p>
            <a:pPr marL="0" indent="0">
              <a:buNone/>
            </a:pPr>
            <a:r>
              <a:rPr lang="en-US" altLang="en-US" sz="1800" dirty="0">
                <a:sym typeface="+mn-ea"/>
              </a:rPr>
              <a:t>Data Collection → Preprocessing → EDA → Feature Engineering → ML → Anomaly Detection → Database → Dashboard → Recommendations → Testing</a:t>
            </a:r>
            <a:endParaRPr lang="en-US" altLang="en-US" sz="1800" dirty="0"/>
          </a:p>
          <a:p>
            <a:pPr marL="0" indent="0">
              <a:buNone/>
            </a:pPr>
            <a:endParaRPr lang="en-US" altLang="en-US" sz="1800" dirty="0"/>
          </a:p>
        </p:txBody>
      </p:sp>
      <p:pic>
        <p:nvPicPr>
          <p:cNvPr id="6" name="Picture 5" descr="KL University - KL University added a ..."/>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76200"/>
            <a:ext cx="1134110" cy="11385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1459F-5080-6BF9-0C25-1E4E97784C3A}"/>
              </a:ext>
            </a:extLst>
          </p:cNvPr>
          <p:cNvSpPr>
            <a:spLocks noGrp="1"/>
          </p:cNvSpPr>
          <p:nvPr>
            <p:ph type="title"/>
          </p:nvPr>
        </p:nvSpPr>
        <p:spPr>
          <a:xfrm>
            <a:off x="457200" y="76200"/>
            <a:ext cx="8229600" cy="914400"/>
          </a:xfrm>
        </p:spPr>
        <p:txBody>
          <a:bodyPr>
            <a:normAutofit fontScale="90000"/>
          </a:bodyPr>
          <a:lstStyle/>
          <a:p>
            <a:r>
              <a:rPr lang="en-IN" b="1" dirty="0">
                <a:solidFill>
                  <a:schemeClr val="accent1"/>
                </a:solidFill>
              </a:rPr>
              <a:t>System Methodology &amp; Architecture</a:t>
            </a:r>
          </a:p>
        </p:txBody>
      </p:sp>
      <p:pic>
        <p:nvPicPr>
          <p:cNvPr id="5" name="Content Placeholder 4">
            <a:extLst>
              <a:ext uri="{FF2B5EF4-FFF2-40B4-BE49-F238E27FC236}">
                <a16:creationId xmlns:a16="http://schemas.microsoft.com/office/drawing/2014/main" id="{D2F53A46-293A-4CB7-9A8C-3F31ED070D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914400"/>
            <a:ext cx="7543800" cy="5943600"/>
          </a:xfrm>
          <a:prstGeom prst="rect">
            <a:avLst/>
          </a:prstGeom>
        </p:spPr>
      </p:pic>
    </p:spTree>
    <p:extLst>
      <p:ext uri="{BB962C8B-B14F-4D97-AF65-F5344CB8AC3E}">
        <p14:creationId xmlns:p14="http://schemas.microsoft.com/office/powerpoint/2010/main" val="1903189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76201"/>
            <a:ext cx="5638800" cy="609600"/>
          </a:xfrm>
        </p:spPr>
        <p:txBody>
          <a:bodyPr>
            <a:normAutofit fontScale="90000"/>
          </a:bodyPr>
          <a:lstStyle/>
          <a:p>
            <a:r>
              <a:rPr lang="en-US" b="1" dirty="0">
                <a:solidFill>
                  <a:schemeClr val="accent1"/>
                </a:solidFill>
              </a:rPr>
              <a:t>Project Plan</a:t>
            </a:r>
            <a:endParaRPr lang="en-IN" b="1" dirty="0">
              <a:solidFill>
                <a:schemeClr val="accent1"/>
              </a:solidFill>
            </a:endParaRPr>
          </a:p>
        </p:txBody>
      </p:sp>
      <p:sp>
        <p:nvSpPr>
          <p:cNvPr id="3" name="Content Placeholder 2"/>
          <p:cNvSpPr>
            <a:spLocks noGrp="1"/>
          </p:cNvSpPr>
          <p:nvPr>
            <p:ph idx="1"/>
          </p:nvPr>
        </p:nvSpPr>
        <p:spPr/>
        <p:txBody>
          <a:bodyPr/>
          <a:lstStyle/>
          <a:p>
            <a:endParaRPr lang="en-US"/>
          </a:p>
        </p:txBody>
      </p:sp>
      <p:pic>
        <p:nvPicPr>
          <p:cNvPr id="4" name="Picture 3" descr="_- visual selection (3)"/>
          <p:cNvPicPr>
            <a:picLocks noChangeAspect="1"/>
          </p:cNvPicPr>
          <p:nvPr/>
        </p:nvPicPr>
        <p:blipFill>
          <a:blip r:embed="rId2"/>
          <a:stretch>
            <a:fillRect/>
          </a:stretch>
        </p:blipFill>
        <p:spPr>
          <a:xfrm>
            <a:off x="0" y="741045"/>
            <a:ext cx="9144000" cy="61391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rot="19821540">
            <a:off x="1767855" y="2774216"/>
            <a:ext cx="5608289" cy="923330"/>
          </a:xfrm>
          <a:prstGeom prst="rect">
            <a:avLst/>
          </a:prstGeom>
          <a:noFill/>
        </p:spPr>
        <p:txBody>
          <a:bodyPr wrap="square" lIns="91440" tIns="45720" rIns="91440" bIns="45720">
            <a:spAutoFit/>
          </a:bodyPr>
          <a:lstStyle/>
          <a:p>
            <a:pPr algn="ctr"/>
            <a:r>
              <a:rPr lang="en-US" sz="5400" b="1" dirty="0">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dirty="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1081</Words>
  <Application>Microsoft Office PowerPoint</Application>
  <PresentationFormat>On-screen Show (4:3)</PresentationFormat>
  <Paragraphs>160</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Aptos</vt:lpstr>
      <vt:lpstr>Arial</vt:lpstr>
      <vt:lpstr>Calibri</vt:lpstr>
      <vt:lpstr>Times New Roman</vt:lpstr>
      <vt:lpstr>Wingdings</vt:lpstr>
      <vt:lpstr>Office Theme</vt:lpstr>
      <vt:lpstr>  A Project Review     Project title: Intelligent Energy Consumption Analytics for Smart Buildings</vt:lpstr>
      <vt:lpstr>Outline of the presentation</vt:lpstr>
      <vt:lpstr>Problem Statement </vt:lpstr>
      <vt:lpstr>Abstract</vt:lpstr>
      <vt:lpstr>Project flow diagram</vt:lpstr>
      <vt:lpstr>Literature Survey</vt:lpstr>
      <vt:lpstr>Literature Survey</vt:lpstr>
      <vt:lpstr>Objectives with justification </vt:lpstr>
      <vt:lpstr>Research gaps </vt:lpstr>
      <vt:lpstr>Novelty</vt:lpstr>
      <vt:lpstr>Feasibility of the Project</vt:lpstr>
      <vt:lpstr>Feasibility of the Project</vt:lpstr>
      <vt:lpstr>System Methodology &amp; Architecture</vt:lpstr>
      <vt:lpstr>Project Plan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chshravanyasaisiri@outlook.com</cp:lastModifiedBy>
  <cp:revision>195</cp:revision>
  <dcterms:created xsi:type="dcterms:W3CDTF">2006-08-16T00:00:00Z</dcterms:created>
  <dcterms:modified xsi:type="dcterms:W3CDTF">2026-09-12T04:11:28Z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3DA13323F42F419F8DE41A712428F4A2_13</vt:lpwstr>
  </property>
</Properties>
</file>